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8229600" cy="14630400"/>
  <p:embeddedFontLst>
    <p:embeddedFont>
      <p:font typeface="Lato" panose="020F0502020204030203" pitchFamily="34" charset="0"/>
      <p:regular r:id="rId17"/>
    </p:embeddedFont>
    <p:embeddedFont>
      <p:font typeface="Poppins Semi Bold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2.fntdata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1.fntdata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8319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6" Type="http://schemas.openxmlformats.org/officeDocument/2006/relationships/theme" Target="../theme/theme1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 /><Relationship Id="rId3" Type="http://schemas.openxmlformats.org/officeDocument/2006/relationships/image" Target="../media/image4.png" /><Relationship Id="rId7" Type="http://schemas.openxmlformats.org/officeDocument/2006/relationships/image" Target="../media/image8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7.svg" /><Relationship Id="rId5" Type="http://schemas.openxmlformats.org/officeDocument/2006/relationships/image" Target="../media/image6.png" /><Relationship Id="rId4" Type="http://schemas.openxmlformats.org/officeDocument/2006/relationships/image" Target="../media/image5.svg" /><Relationship Id="rId9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 /><Relationship Id="rId3" Type="http://schemas.openxmlformats.org/officeDocument/2006/relationships/image" Target="../media/image10.png" /><Relationship Id="rId7" Type="http://schemas.openxmlformats.org/officeDocument/2006/relationships/image" Target="../media/image14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13.svg" /><Relationship Id="rId11" Type="http://schemas.openxmlformats.org/officeDocument/2006/relationships/image" Target="../media/image3.png" /><Relationship Id="rId5" Type="http://schemas.openxmlformats.org/officeDocument/2006/relationships/image" Target="../media/image12.png" /><Relationship Id="rId10" Type="http://schemas.openxmlformats.org/officeDocument/2006/relationships/image" Target="../media/image17.svg" /><Relationship Id="rId4" Type="http://schemas.openxmlformats.org/officeDocument/2006/relationships/image" Target="../media/image11.svg" /><Relationship Id="rId9" Type="http://schemas.openxmlformats.org/officeDocument/2006/relationships/image" Target="../media/image16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 /><Relationship Id="rId3" Type="http://schemas.openxmlformats.org/officeDocument/2006/relationships/image" Target="../media/image18.png" /><Relationship Id="rId7" Type="http://schemas.openxmlformats.org/officeDocument/2006/relationships/image" Target="../media/image22.sv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21.png" /><Relationship Id="rId5" Type="http://schemas.openxmlformats.org/officeDocument/2006/relationships/image" Target="../media/image20.svg" /><Relationship Id="rId4" Type="http://schemas.openxmlformats.org/officeDocument/2006/relationships/image" Target="../media/image19.png" /><Relationship Id="rId9" Type="http://schemas.openxmlformats.org/officeDocument/2006/relationships/image" Target="../media/image24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 /><Relationship Id="rId13" Type="http://schemas.openxmlformats.org/officeDocument/2006/relationships/image" Target="../media/image3.png" /><Relationship Id="rId3" Type="http://schemas.openxmlformats.org/officeDocument/2006/relationships/image" Target="../media/image25.png" /><Relationship Id="rId7" Type="http://schemas.openxmlformats.org/officeDocument/2006/relationships/image" Target="../media/image23.png" /><Relationship Id="rId12" Type="http://schemas.openxmlformats.org/officeDocument/2006/relationships/image" Target="../media/image32.sv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8.svg" /><Relationship Id="rId11" Type="http://schemas.openxmlformats.org/officeDocument/2006/relationships/image" Target="../media/image31.png" /><Relationship Id="rId5" Type="http://schemas.openxmlformats.org/officeDocument/2006/relationships/image" Target="../media/image27.png" /><Relationship Id="rId10" Type="http://schemas.openxmlformats.org/officeDocument/2006/relationships/image" Target="../media/image30.svg" /><Relationship Id="rId4" Type="http://schemas.openxmlformats.org/officeDocument/2006/relationships/image" Target="../media/image26.svg" /><Relationship Id="rId9" Type="http://schemas.openxmlformats.org/officeDocument/2006/relationships/image" Target="../media/image29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9.xml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 /><Relationship Id="rId3" Type="http://schemas.openxmlformats.org/officeDocument/2006/relationships/image" Target="../media/image33.png" /><Relationship Id="rId7" Type="http://schemas.openxmlformats.org/officeDocument/2006/relationships/image" Target="../media/image37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0.xml" /><Relationship Id="rId6" Type="http://schemas.openxmlformats.org/officeDocument/2006/relationships/image" Target="../media/image36.svg" /><Relationship Id="rId5" Type="http://schemas.openxmlformats.org/officeDocument/2006/relationships/image" Target="../media/image35.png" /><Relationship Id="rId4" Type="http://schemas.openxmlformats.org/officeDocument/2006/relationships/image" Target="../media/image34.svg" /><Relationship Id="rId9" Type="http://schemas.openxmlformats.org/officeDocument/2006/relationships/image" Target="../media/image3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1.xml" /><Relationship Id="rId4" Type="http://schemas.openxmlformats.org/officeDocument/2006/relationships/image" Target="../media/image3.png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 /><Relationship Id="rId13" Type="http://schemas.openxmlformats.org/officeDocument/2006/relationships/image" Target="../media/image50.png" /><Relationship Id="rId3" Type="http://schemas.openxmlformats.org/officeDocument/2006/relationships/image" Target="../media/image40.png" /><Relationship Id="rId7" Type="http://schemas.openxmlformats.org/officeDocument/2006/relationships/image" Target="../media/image44.png" /><Relationship Id="rId12" Type="http://schemas.openxmlformats.org/officeDocument/2006/relationships/image" Target="../media/image49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2.xml" /><Relationship Id="rId6" Type="http://schemas.openxmlformats.org/officeDocument/2006/relationships/image" Target="../media/image43.png" /><Relationship Id="rId11" Type="http://schemas.openxmlformats.org/officeDocument/2006/relationships/image" Target="../media/image48.svg" /><Relationship Id="rId5" Type="http://schemas.openxmlformats.org/officeDocument/2006/relationships/image" Target="../media/image42.svg" /><Relationship Id="rId15" Type="http://schemas.openxmlformats.org/officeDocument/2006/relationships/image" Target="../media/image3.png" /><Relationship Id="rId10" Type="http://schemas.openxmlformats.org/officeDocument/2006/relationships/image" Target="../media/image47.png" /><Relationship Id="rId4" Type="http://schemas.openxmlformats.org/officeDocument/2006/relationships/image" Target="../media/image41.png" /><Relationship Id="rId9" Type="http://schemas.openxmlformats.org/officeDocument/2006/relationships/image" Target="../media/image46.png" /><Relationship Id="rId14" Type="http://schemas.openxmlformats.org/officeDocument/2006/relationships/image" Target="../media/image51.sv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3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4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3843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AIyuv — AI-Powered Ayurvedic Diagnostic Tool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46721"/>
            <a:ext cx="68859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Personalized Wellness through AI and Ayurveda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6917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       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5136833"/>
            <a:ext cx="42123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  Punuru Shyam Suchit Reddy</a:t>
            </a: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8D4E87-DF4E-6EB1-3295-7C9786822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2660" y="7746888"/>
            <a:ext cx="2257740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5752"/>
            <a:ext cx="57407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Executive Summary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0525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u="sng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Key Points</a:t>
            </a:r>
            <a:r>
              <a:rPr lang="en-US" sz="265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4110871"/>
            <a:ext cx="4196358" cy="1912977"/>
          </a:xfrm>
          <a:prstGeom prst="roundRect">
            <a:avLst>
              <a:gd name="adj" fmla="val 7648"/>
            </a:avLst>
          </a:prstGeom>
          <a:solidFill>
            <a:srgbClr val="F9F9F9"/>
          </a:solidFill>
          <a:ln/>
          <a:effectLst>
            <a:outerShdw dist="2032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3790" y="4080391"/>
            <a:ext cx="4196358" cy="121920"/>
          </a:xfrm>
          <a:prstGeom prst="roundRect">
            <a:avLst>
              <a:gd name="adj" fmla="val 27907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51688" y="377070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5761" y="3974783"/>
            <a:ext cx="272177" cy="272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084" y="467784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Healthcare today is reactive, while Ayurveda promotes prevention and balance.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4110871"/>
            <a:ext cx="4196358" cy="1912977"/>
          </a:xfrm>
          <a:prstGeom prst="roundRect">
            <a:avLst>
              <a:gd name="adj" fmla="val 7648"/>
            </a:avLst>
          </a:prstGeom>
          <a:solidFill>
            <a:srgbClr val="F9F9F9"/>
          </a:solidFill>
          <a:ln/>
          <a:effectLst>
            <a:outerShdw dist="2032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216962" y="4080391"/>
            <a:ext cx="4196358" cy="121920"/>
          </a:xfrm>
          <a:prstGeom prst="roundRect">
            <a:avLst>
              <a:gd name="adj" fmla="val 27907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974860" y="377070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8933" y="3974783"/>
            <a:ext cx="272177" cy="2721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4256" y="467784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 Ayurvedic diagnosis methods are manual and inconsistent.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4110871"/>
            <a:ext cx="4196358" cy="1912977"/>
          </a:xfrm>
          <a:prstGeom prst="roundRect">
            <a:avLst>
              <a:gd name="adj" fmla="val 7648"/>
            </a:avLst>
          </a:prstGeom>
          <a:solidFill>
            <a:srgbClr val="F9F9F9"/>
          </a:solidFill>
          <a:ln/>
          <a:effectLst>
            <a:outerShdw dist="2032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640133" y="4080391"/>
            <a:ext cx="4196358" cy="121920"/>
          </a:xfrm>
          <a:prstGeom prst="roundRect">
            <a:avLst>
              <a:gd name="adj" fmla="val 27907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11398032" y="377070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2105" y="3974783"/>
            <a:ext cx="272177" cy="27217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97427" y="467784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AIyuv bridges this gap by making Ayurveda data-driven, scalable, and accurate.</a:t>
            </a:r>
            <a:endParaRPr lang="en-US" sz="17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A44C691-5DCC-BFE3-7669-7B930D14EF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82330" y="7749922"/>
            <a:ext cx="2257740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617815"/>
            <a:ext cx="11245334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Problem: A Reactive Healthcare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4384" y="1654254"/>
            <a:ext cx="130616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Modern healthcare focuses on curing disease after it occurs, instead of predicting and preventing it.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4384" y="2264807"/>
            <a:ext cx="6418778" cy="2561392"/>
          </a:xfrm>
          <a:prstGeom prst="roundRect">
            <a:avLst>
              <a:gd name="adj" fmla="val 13125"/>
            </a:avLst>
          </a:prstGeom>
          <a:solidFill>
            <a:srgbClr val="EDE7E7"/>
          </a:solidFill>
          <a:ln w="7620">
            <a:solidFill>
              <a:srgbClr val="D3CDCD"/>
            </a:solidFill>
            <a:prstDash val="solid"/>
          </a:ln>
          <a:effectLst>
            <a:outerShdw dist="2032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16079" y="2496503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0983" y="2681288"/>
            <a:ext cx="302538" cy="3025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6079" y="3392924"/>
            <a:ext cx="3444240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Reactive, Not Preventive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16079" y="3877508"/>
            <a:ext cx="5955387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current system addresses symptoms instead of root causes, making it reactive rather than preventive.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7238" y="2264807"/>
            <a:ext cx="6418778" cy="2561392"/>
          </a:xfrm>
          <a:prstGeom prst="roundRect">
            <a:avLst>
              <a:gd name="adj" fmla="val 13125"/>
            </a:avLst>
          </a:prstGeom>
          <a:solidFill>
            <a:srgbClr val="EDE7E7"/>
          </a:solidFill>
          <a:ln w="7620">
            <a:solidFill>
              <a:srgbClr val="D3CDCD"/>
            </a:solidFill>
            <a:prstDash val="solid"/>
          </a:ln>
          <a:effectLst>
            <a:outerShdw dist="2032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658933" y="2496503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3838" y="2681288"/>
            <a:ext cx="302538" cy="3025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8933" y="3392924"/>
            <a:ext cx="3540562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Subjective Interpretation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658933" y="3877508"/>
            <a:ext cx="5955387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Ayurvedic diagnosis varies from doctor to doctor, often leading to confusion and inconsistent results.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84384" y="5050274"/>
            <a:ext cx="6418778" cy="2561392"/>
          </a:xfrm>
          <a:prstGeom prst="roundRect">
            <a:avLst>
              <a:gd name="adj" fmla="val 13125"/>
            </a:avLst>
          </a:prstGeom>
          <a:solidFill>
            <a:srgbClr val="EDE7E7"/>
          </a:solidFill>
          <a:ln w="7620">
            <a:solidFill>
              <a:srgbClr val="D3CDCD"/>
            </a:solidFill>
            <a:prstDash val="solid"/>
          </a:ln>
          <a:effectLst>
            <a:outerShdw dist="2032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016079" y="5281970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0983" y="5466755"/>
            <a:ext cx="302538" cy="3025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16079" y="6178391"/>
            <a:ext cx="358925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Limited Access to Experts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016079" y="6662976"/>
            <a:ext cx="5955387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There's limited access to qualified Ayurvedic experts, especially outside urban areas.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427238" y="5050274"/>
            <a:ext cx="6418778" cy="2561392"/>
          </a:xfrm>
          <a:prstGeom prst="roundRect">
            <a:avLst>
              <a:gd name="adj" fmla="val 13125"/>
            </a:avLst>
          </a:prstGeom>
          <a:solidFill>
            <a:srgbClr val="EDE7E7"/>
          </a:solidFill>
          <a:ln w="7620">
            <a:solidFill>
              <a:srgbClr val="D3CDCD"/>
            </a:solidFill>
            <a:prstDash val="solid"/>
          </a:ln>
          <a:effectLst>
            <a:outerShdw dist="2032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658933" y="5281970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3838" y="5466755"/>
            <a:ext cx="302538" cy="3025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58933" y="6178391"/>
            <a:ext cx="3122176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Low Public Awareness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658933" y="6662976"/>
            <a:ext cx="5955387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People are often unaware of their Prakruthi and Dosha balance, missing crucial preventive insights.</a:t>
            </a:r>
            <a:endParaRPr lang="en-US" sz="17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F277DD3-A519-5B07-84AC-323622FD4C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82330" y="7746088"/>
            <a:ext cx="2257740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40331" y="584002"/>
            <a:ext cx="9139118" cy="66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The Cost of Reactivity: Ravi's Story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740331" y="1562338"/>
            <a:ext cx="13149739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Imagine Ravi, a 30-year-old IT professional. He lives a sedentary life, eats irregularly, and often feels fatigued. But he doesn't consult a doctor because he assumes it's "normal."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40331" y="2477214"/>
            <a:ext cx="13149739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year later, Ravi is diagnosed with </a:t>
            </a:r>
            <a:r>
              <a:rPr lang="en-US" sz="165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Type 2 diabetes</a:t>
            </a: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a lifestyle disease that could have been prevented with early awareness of his </a:t>
            </a:r>
            <a:r>
              <a:rPr lang="en-US" sz="165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Dosha imbalance (Kapha dominant)</a:t>
            </a: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a simple change in diet and activity.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40331" y="3471505"/>
            <a:ext cx="3237905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Supporting Insights:</a:t>
            </a:r>
            <a:endParaRPr lang="en-US" sz="2450" dirty="0"/>
          </a:p>
        </p:txBody>
      </p:sp>
      <p:sp>
        <p:nvSpPr>
          <p:cNvPr id="8" name="Shape 5"/>
          <p:cNvSpPr/>
          <p:nvPr/>
        </p:nvSpPr>
        <p:spPr>
          <a:xfrm>
            <a:off x="740331" y="4502706"/>
            <a:ext cx="4242197" cy="2566511"/>
          </a:xfrm>
          <a:prstGeom prst="roundRect">
            <a:avLst>
              <a:gd name="adj" fmla="val 4275"/>
            </a:avLst>
          </a:prstGeom>
          <a:solidFill>
            <a:srgbClr val="F9F9F9"/>
          </a:solidFill>
          <a:ln/>
          <a:effectLst>
            <a:outerShdw dist="1905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40331" y="4479846"/>
            <a:ext cx="4242197" cy="91440"/>
          </a:xfrm>
          <a:prstGeom prst="roundRect">
            <a:avLst>
              <a:gd name="adj" fmla="val 34703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544128" y="4185404"/>
            <a:ext cx="634603" cy="634603"/>
          </a:xfrm>
          <a:prstGeom prst="roundRect">
            <a:avLst>
              <a:gd name="adj" fmla="val 14409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4508" y="4375666"/>
            <a:ext cx="253841" cy="2538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4646" y="5031462"/>
            <a:ext cx="2968347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Reactive Help Seeking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974646" y="5488900"/>
            <a:ext cx="3773567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Most people only seek help after symptoms appear.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5193983" y="4502706"/>
            <a:ext cx="4242316" cy="2566511"/>
          </a:xfrm>
          <a:prstGeom prst="roundRect">
            <a:avLst>
              <a:gd name="adj" fmla="val 4275"/>
            </a:avLst>
          </a:prstGeom>
          <a:solidFill>
            <a:srgbClr val="F9F9F9"/>
          </a:solidFill>
          <a:ln/>
          <a:effectLst>
            <a:outerShdw dist="1905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5193983" y="4479846"/>
            <a:ext cx="4242316" cy="91440"/>
          </a:xfrm>
          <a:prstGeom prst="roundRect">
            <a:avLst>
              <a:gd name="adj" fmla="val 34703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997779" y="4185404"/>
            <a:ext cx="634603" cy="634603"/>
          </a:xfrm>
          <a:prstGeom prst="roundRect">
            <a:avLst>
              <a:gd name="adj" fmla="val 14409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8160" y="4375666"/>
            <a:ext cx="253841" cy="25384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28298" y="5031462"/>
            <a:ext cx="315420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Rising Chronic Illnesses</a:t>
            </a:r>
            <a:endParaRPr lang="en-US" sz="2050" dirty="0"/>
          </a:p>
        </p:txBody>
      </p:sp>
      <p:sp>
        <p:nvSpPr>
          <p:cNvPr id="19" name="Text 14"/>
          <p:cNvSpPr/>
          <p:nvPr/>
        </p:nvSpPr>
        <p:spPr>
          <a:xfrm>
            <a:off x="5428298" y="5488900"/>
            <a:ext cx="3773686" cy="101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Chronic illnesses like diabetes, obesity, hypertension, and PCOD are rising due to late detection.</a:t>
            </a:r>
            <a:endParaRPr lang="en-US" sz="1650" dirty="0"/>
          </a:p>
        </p:txBody>
      </p:sp>
      <p:sp>
        <p:nvSpPr>
          <p:cNvPr id="20" name="Shape 15"/>
          <p:cNvSpPr/>
          <p:nvPr/>
        </p:nvSpPr>
        <p:spPr>
          <a:xfrm>
            <a:off x="9647753" y="4502706"/>
            <a:ext cx="4242197" cy="2566511"/>
          </a:xfrm>
          <a:prstGeom prst="roundRect">
            <a:avLst>
              <a:gd name="adj" fmla="val 4275"/>
            </a:avLst>
          </a:prstGeom>
          <a:solidFill>
            <a:srgbClr val="F9F9F9"/>
          </a:solidFill>
          <a:ln/>
          <a:effectLst>
            <a:outerShdw dist="1905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9647753" y="4479846"/>
            <a:ext cx="4242197" cy="91440"/>
          </a:xfrm>
          <a:prstGeom prst="roundRect">
            <a:avLst>
              <a:gd name="adj" fmla="val 34703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11451550" y="4185404"/>
            <a:ext cx="634603" cy="634603"/>
          </a:xfrm>
          <a:prstGeom prst="roundRect">
            <a:avLst>
              <a:gd name="adj" fmla="val 14409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41931" y="4375666"/>
            <a:ext cx="253841" cy="25384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82068" y="5031462"/>
            <a:ext cx="3773567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Ayurveda + AI for Prevention</a:t>
            </a:r>
            <a:endParaRPr lang="en-US" sz="2050" dirty="0"/>
          </a:p>
        </p:txBody>
      </p:sp>
      <p:sp>
        <p:nvSpPr>
          <p:cNvPr id="25" name="Text 19"/>
          <p:cNvSpPr/>
          <p:nvPr/>
        </p:nvSpPr>
        <p:spPr>
          <a:xfrm>
            <a:off x="9882068" y="5819418"/>
            <a:ext cx="3773567" cy="101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Ayurveda, when combined with AI, can offer preventive insights before illness begins.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740331" y="7307104"/>
            <a:ext cx="13149739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"In today's reactive healthcare system, millions like Ravi wait for disease to strike — AIyuv empowers them to act before it happens."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7929" y="584716"/>
            <a:ext cx="8208407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Solution: How AIyuv Solves the Problem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77929" y="1431131"/>
            <a:ext cx="13474541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🌿</a:t>
            </a:r>
            <a:r>
              <a:rPr lang="en-US" sz="13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300" u="sng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</a:t>
            </a:r>
            <a:r>
              <a:rPr lang="en-US" sz="13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77929" y="1888688"/>
            <a:ext cx="13474541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AIyuv makes Ayurvedic diagnosis digital, consistent, and available to everyone — so people can understand their body early, detect imbalances, and take action before falling ill.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7929" y="2400538"/>
            <a:ext cx="7516773" cy="412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How AIyuv Solves the Problem Step-by-Step: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77929" y="3060978"/>
            <a:ext cx="6654641" cy="1488996"/>
          </a:xfrm>
          <a:prstGeom prst="roundRect">
            <a:avLst>
              <a:gd name="adj" fmla="val 16638"/>
            </a:avLst>
          </a:prstGeom>
          <a:solidFill>
            <a:srgbClr val="EDE7E7"/>
          </a:solidFill>
          <a:ln w="7620">
            <a:solidFill>
              <a:srgbClr val="D3CDCD"/>
            </a:solidFill>
            <a:prstDash val="solid"/>
          </a:ln>
          <a:effectLst>
            <a:outerShdw dist="1524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50689" y="3233738"/>
            <a:ext cx="630912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Problem: Ayurvedic diagnosis depends on human interpretation.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0689" y="3848814"/>
            <a:ext cx="6309122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Solution:</a:t>
            </a:r>
            <a:r>
              <a:rPr lang="en-US" sz="13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AIyuv uses a trained AI model for consistent, unbiased, and accurate Prakruthi assessment.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97710" y="3060978"/>
            <a:ext cx="6654760" cy="1488996"/>
          </a:xfrm>
          <a:prstGeom prst="roundRect">
            <a:avLst>
              <a:gd name="adj" fmla="val 16638"/>
            </a:avLst>
          </a:prstGeom>
          <a:solidFill>
            <a:srgbClr val="EDE7E7"/>
          </a:solidFill>
          <a:ln w="7620">
            <a:solidFill>
              <a:srgbClr val="D3CDCD"/>
            </a:solidFill>
            <a:prstDash val="solid"/>
          </a:ln>
          <a:effectLst>
            <a:outerShdw dist="1524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570470" y="3233738"/>
            <a:ext cx="6309241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Problem: Lack of access to Ayurvedic experts in many areas.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70470" y="3848814"/>
            <a:ext cx="6309241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Solution:</a:t>
            </a:r>
            <a:r>
              <a:rPr lang="en-US" sz="13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AIyuv offers digital self-assessment, accessible anytime, anywhere — no expert required.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7929" y="4715113"/>
            <a:ext cx="6654641" cy="1488996"/>
          </a:xfrm>
          <a:prstGeom prst="roundRect">
            <a:avLst>
              <a:gd name="adj" fmla="val 16638"/>
            </a:avLst>
          </a:prstGeom>
          <a:solidFill>
            <a:srgbClr val="EDE7E7"/>
          </a:solidFill>
          <a:ln w="7620">
            <a:solidFill>
              <a:srgbClr val="D3CDCD"/>
            </a:solidFill>
            <a:prstDash val="solid"/>
          </a:ln>
          <a:effectLst>
            <a:outerShdw dist="1524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50689" y="4887873"/>
            <a:ext cx="630912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Problem: People don't know their body type or how to maintain balance.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0689" y="5502950"/>
            <a:ext cx="6309122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Solution:</a:t>
            </a:r>
            <a:r>
              <a:rPr lang="en-US" sz="13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AIyuv explains your body constitution (Prakruthi) and gives personalized recommendations for diet, sleep, and lifestyle.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97710" y="4715113"/>
            <a:ext cx="6654760" cy="1488996"/>
          </a:xfrm>
          <a:prstGeom prst="roundRect">
            <a:avLst>
              <a:gd name="adj" fmla="val 16638"/>
            </a:avLst>
          </a:prstGeom>
          <a:solidFill>
            <a:srgbClr val="EDE7E7"/>
          </a:solidFill>
          <a:ln w="7620">
            <a:solidFill>
              <a:srgbClr val="D3CDCD"/>
            </a:solidFill>
            <a:prstDash val="solid"/>
          </a:ln>
          <a:effectLst>
            <a:outerShdw dist="1524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570470" y="4887873"/>
            <a:ext cx="6309241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Problem: Reactive healthcare leads to high costs and chronic issues.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70470" y="5502950"/>
            <a:ext cx="6309241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Solution:</a:t>
            </a:r>
            <a:r>
              <a:rPr lang="en-US" sz="13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AIyuv promotes preventive healthcare, reducing hospital visits and long-term treatment costs.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7929" y="6451759"/>
            <a:ext cx="2611636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🧠</a:t>
            </a:r>
            <a:r>
              <a:rPr lang="en-US" sz="195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 Simple Summary: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25579" y="7194828"/>
            <a:ext cx="13226891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"AIyuv transforms healthcare from reactive to preventive — helping people stay balanced and healthy before illness begins."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7929" y="7009090"/>
            <a:ext cx="22860" cy="635675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39F6F4-184F-720A-0E0F-ED9AC01CB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1444" y="7759728"/>
            <a:ext cx="2257740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8536" y="553283"/>
            <a:ext cx="12551926" cy="596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The AIyuv Product: Data-Driven Personalized Health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68536" y="1532096"/>
            <a:ext cx="1329332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AIyuv provides a comprehensive, digital framework for personalized wellness based on your unique constitution.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8536" y="4145994"/>
            <a:ext cx="13293328" cy="22860"/>
          </a:xfrm>
          <a:prstGeom prst="roundRect">
            <a:avLst>
              <a:gd name="adj" fmla="val 1253460"/>
            </a:avLst>
          </a:prstGeom>
          <a:solidFill>
            <a:srgbClr val="19A2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92968" y="3573006"/>
            <a:ext cx="22860" cy="573048"/>
          </a:xfrm>
          <a:prstGeom prst="roundRect">
            <a:avLst>
              <a:gd name="adj" fmla="val 1253460"/>
            </a:avLst>
          </a:prstGeom>
          <a:solidFill>
            <a:srgbClr val="19A2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89609" y="3931146"/>
            <a:ext cx="429697" cy="429697"/>
          </a:xfrm>
          <a:prstGeom prst="roundRect">
            <a:avLst>
              <a:gd name="adj" fmla="val 66684"/>
            </a:avLst>
          </a:prstGeom>
          <a:solidFill>
            <a:srgbClr val="00897B"/>
          </a:solidFill>
          <a:ln w="7620">
            <a:solidFill>
              <a:srgbClr val="19A294"/>
            </a:solidFill>
            <a:prstDash val="solid"/>
          </a:ln>
          <a:effectLst>
            <a:outerShdw dist="17780" dir="2700000" algn="bl" rotWithShape="0">
              <a:srgbClr val="19A294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1166" y="4002703"/>
            <a:ext cx="286464" cy="286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10558" y="2052399"/>
            <a:ext cx="2387798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User Inputs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9512" y="2465427"/>
            <a:ext cx="3890010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 enters traits, symptoms, and lifestyle details; Body traits (Prakruthi); Mind traits (Guna).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48250" y="4145935"/>
            <a:ext cx="22860" cy="573048"/>
          </a:xfrm>
          <a:prstGeom prst="roundRect">
            <a:avLst>
              <a:gd name="adj" fmla="val 1253460"/>
            </a:avLst>
          </a:prstGeom>
          <a:solidFill>
            <a:srgbClr val="19A2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844891" y="3931146"/>
            <a:ext cx="429697" cy="429697"/>
          </a:xfrm>
          <a:prstGeom prst="roundRect">
            <a:avLst>
              <a:gd name="adj" fmla="val 66684"/>
            </a:avLst>
          </a:prstGeom>
          <a:solidFill>
            <a:srgbClr val="00897B"/>
          </a:solidFill>
          <a:ln w="7620">
            <a:solidFill>
              <a:srgbClr val="19A294"/>
            </a:solidFill>
            <a:prstDash val="solid"/>
          </a:ln>
          <a:effectLst>
            <a:outerShdw dist="17780" dir="2700000" algn="bl" rotWithShape="0">
              <a:srgbClr val="19A294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6448" y="4002703"/>
            <a:ext cx="286464" cy="286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65840" y="4910018"/>
            <a:ext cx="2387798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Data Processing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3114794" y="5323046"/>
            <a:ext cx="3890010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 collects biometric data — heart rate, HRV, Images of Tongue or face etc.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303651" y="3573006"/>
            <a:ext cx="22860" cy="573048"/>
          </a:xfrm>
          <a:prstGeom prst="roundRect">
            <a:avLst>
              <a:gd name="adj" fmla="val 1253460"/>
            </a:avLst>
          </a:prstGeom>
          <a:solidFill>
            <a:srgbClr val="19A2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100292" y="3931146"/>
            <a:ext cx="429697" cy="429697"/>
          </a:xfrm>
          <a:prstGeom prst="roundRect">
            <a:avLst>
              <a:gd name="adj" fmla="val 66684"/>
            </a:avLst>
          </a:prstGeom>
          <a:solidFill>
            <a:srgbClr val="00897B"/>
          </a:solidFill>
          <a:ln w="7620">
            <a:solidFill>
              <a:srgbClr val="19A294"/>
            </a:solidFill>
            <a:prstDash val="solid"/>
          </a:ln>
          <a:effectLst>
            <a:outerShdw dist="17780" dir="2700000" algn="bl" rotWithShape="0">
              <a:srgbClr val="19A294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71849" y="4002703"/>
            <a:ext cx="286464" cy="286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1241" y="2052399"/>
            <a:ext cx="2387798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AI Analysis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5370195" y="2465427"/>
            <a:ext cx="3890010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model maps inputs to dosha, guna, agni, and ama patterns.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9558933" y="4145935"/>
            <a:ext cx="22860" cy="573048"/>
          </a:xfrm>
          <a:prstGeom prst="roundRect">
            <a:avLst>
              <a:gd name="adj" fmla="val 1253460"/>
            </a:avLst>
          </a:prstGeom>
          <a:solidFill>
            <a:srgbClr val="19A2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9355574" y="3931146"/>
            <a:ext cx="429697" cy="429697"/>
          </a:xfrm>
          <a:prstGeom prst="roundRect">
            <a:avLst>
              <a:gd name="adj" fmla="val 66684"/>
            </a:avLst>
          </a:prstGeom>
          <a:solidFill>
            <a:srgbClr val="00897B"/>
          </a:solidFill>
          <a:ln w="7620">
            <a:solidFill>
              <a:srgbClr val="19A294"/>
            </a:solidFill>
            <a:prstDash val="solid"/>
          </a:ln>
          <a:effectLst>
            <a:outerShdw dist="17780" dir="2700000" algn="bl" rotWithShape="0">
              <a:srgbClr val="19A294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27131" y="4002703"/>
            <a:ext cx="286464" cy="286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76523" y="4910018"/>
            <a:ext cx="2387798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Diagnosis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7625477" y="5323046"/>
            <a:ext cx="3890010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Detects dosha imbalances and predicts probable illness; Generates confidence score.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11814334" y="3573006"/>
            <a:ext cx="22860" cy="573048"/>
          </a:xfrm>
          <a:prstGeom prst="roundRect">
            <a:avLst>
              <a:gd name="adj" fmla="val 1253460"/>
            </a:avLst>
          </a:prstGeom>
          <a:solidFill>
            <a:srgbClr val="19A2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11610975" y="3931146"/>
            <a:ext cx="429697" cy="429697"/>
          </a:xfrm>
          <a:prstGeom prst="roundRect">
            <a:avLst>
              <a:gd name="adj" fmla="val 66684"/>
            </a:avLst>
          </a:prstGeom>
          <a:solidFill>
            <a:srgbClr val="00897B"/>
          </a:solidFill>
          <a:ln w="7620">
            <a:solidFill>
              <a:srgbClr val="19A294"/>
            </a:solidFill>
            <a:prstDash val="solid"/>
          </a:ln>
          <a:effectLst>
            <a:outerShdw dist="17780" dir="2700000" algn="bl" rotWithShape="0">
              <a:srgbClr val="19A294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682532" y="4002703"/>
            <a:ext cx="286464" cy="286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433328" y="2052399"/>
            <a:ext cx="2784991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Personalized Guidance</a:t>
            </a:r>
            <a:endParaRPr lang="en-US" sz="1850" dirty="0"/>
          </a:p>
        </p:txBody>
      </p:sp>
      <p:sp>
        <p:nvSpPr>
          <p:cNvPr id="29" name="Text 22"/>
          <p:cNvSpPr/>
          <p:nvPr/>
        </p:nvSpPr>
        <p:spPr>
          <a:xfrm>
            <a:off x="9880878" y="2465427"/>
            <a:ext cx="3890010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Recommends diet, lifestyle, yoga, and mental wellness routines.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668536" y="6320671"/>
            <a:ext cx="6413659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Uses advanced </a:t>
            </a:r>
            <a:r>
              <a:rPr lang="en-US" sz="150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algorithms</a:t>
            </a: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analyze complex user inputs, translating subjective data into actionable insights.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668536" y="6998494"/>
            <a:ext cx="6413659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Detects current </a:t>
            </a:r>
            <a:r>
              <a:rPr lang="en-US" sz="150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Dosha imbalances</a:t>
            </a: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with precision.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7555825" y="6320671"/>
            <a:ext cx="6413659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Recommends personalized, holistic wellness routines spanning diet, yoga, meditation, and lifestyle changes.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7555825" y="6998494"/>
            <a:ext cx="6413659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Blends </a:t>
            </a:r>
            <a:r>
              <a:rPr lang="en-US" sz="150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Ayurvedic wisdom with rigorous data analytics</a:t>
            </a: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promote widespread preventive health awareness.</a:t>
            </a:r>
            <a:endParaRPr lang="en-US" sz="15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49EC04C-6C22-ADBC-A949-8BAE9B44E1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93216" y="7760808"/>
            <a:ext cx="2257740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887" y="486251"/>
            <a:ext cx="5010626" cy="55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How AIyuv Adds Value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18887" y="1392436"/>
            <a:ext cx="13392626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u="sng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Simple Terms</a:t>
            </a:r>
            <a:r>
              <a:rPr lang="en-US" sz="13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18887" y="1874282"/>
            <a:ext cx="13392626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AIyuv is like your personal health guide that understands you the way an Ayurvedic doctor would — but faster and available anytime on your phone or computer.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8887" y="2356128"/>
            <a:ext cx="13392626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just answer a few simple questions about your daily habits, mood, food, and sleep, and AIyuv's smart system figures out: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8887" y="2837974"/>
            <a:ext cx="13392626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your body type (Prakruthi) is,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8887" y="3182660"/>
            <a:ext cx="13392626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Which Doshas (imbalances) are causing issues, and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8887" y="3527346"/>
            <a:ext cx="13392626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you can do to bring your body and mind back into balance.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8887" y="4009192"/>
            <a:ext cx="4346258" cy="3734276"/>
          </a:xfrm>
          <a:prstGeom prst="roundRect">
            <a:avLst>
              <a:gd name="adj" fmla="val 2938"/>
            </a:avLst>
          </a:prstGeom>
          <a:solidFill>
            <a:srgbClr val="F9F9F9"/>
          </a:solidFill>
          <a:ln w="22860">
            <a:solidFill>
              <a:srgbClr val="D3CDCD"/>
            </a:solidFill>
            <a:prstDash val="solid"/>
          </a:ln>
          <a:effectLst>
            <a:outerShdw dist="1651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96027" y="4009192"/>
            <a:ext cx="91440" cy="3734276"/>
          </a:xfrm>
          <a:prstGeom prst="roundRect">
            <a:avLst>
              <a:gd name="adj" fmla="val 290115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720929" y="4208859"/>
            <a:ext cx="221063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How It Helps You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7135" y="4591288"/>
            <a:ext cx="387834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Knows You Better:</a:t>
            </a:r>
            <a:r>
              <a:rPr lang="en-US" sz="13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It tells you what kind of body and mind you have — like whether you're more Vata (energetic), Pitta (intense), or Kapha (calm).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87135" y="5784652"/>
            <a:ext cx="3878342" cy="84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Catches Problems Early:</a:t>
            </a:r>
            <a:r>
              <a:rPr lang="en-US" sz="13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Finds signs of imbalance before they turn into health problems.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87135" y="6695123"/>
            <a:ext cx="3878342" cy="84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Gives Practical Tips:</a:t>
            </a:r>
            <a:r>
              <a:rPr lang="en-US" sz="13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Suggests small, doable changes in food, sleep, and lifestyle — based on your body's needs.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141952" y="4009192"/>
            <a:ext cx="4346377" cy="3734276"/>
          </a:xfrm>
          <a:prstGeom prst="roundRect">
            <a:avLst>
              <a:gd name="adj" fmla="val 2938"/>
            </a:avLst>
          </a:prstGeom>
          <a:solidFill>
            <a:srgbClr val="F9F9F9"/>
          </a:solidFill>
          <a:ln w="22860">
            <a:solidFill>
              <a:srgbClr val="D3CDCD"/>
            </a:solidFill>
            <a:prstDash val="solid"/>
          </a:ln>
          <a:effectLst>
            <a:outerShdw dist="1651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119092" y="4009192"/>
            <a:ext cx="91440" cy="3734276"/>
          </a:xfrm>
          <a:prstGeom prst="roundRect">
            <a:avLst>
              <a:gd name="adj" fmla="val 290115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17538" y="4208859"/>
            <a:ext cx="2663785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How It Helps Healthcare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10200" y="4591288"/>
            <a:ext cx="3878461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Makes Ayurvedic knowledge available digitally to everyone — not just experts.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10200" y="5218867"/>
            <a:ext cx="3878461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Helps people in rural access wellness advice without traveling.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10200" y="5846445"/>
            <a:ext cx="3878461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Brings traditional Ayurveda and modern AI together in one simple system.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665137" y="4009192"/>
            <a:ext cx="4346377" cy="3734276"/>
          </a:xfrm>
          <a:prstGeom prst="roundRect">
            <a:avLst>
              <a:gd name="adj" fmla="val 2938"/>
            </a:avLst>
          </a:prstGeom>
          <a:solidFill>
            <a:srgbClr val="F9F9F9"/>
          </a:solidFill>
          <a:ln w="22860">
            <a:solidFill>
              <a:srgbClr val="D3CDCD"/>
            </a:solidFill>
            <a:prstDash val="solid"/>
          </a:ln>
          <a:effectLst>
            <a:outerShdw dist="1651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642277" y="4009192"/>
            <a:ext cx="91440" cy="3734276"/>
          </a:xfrm>
          <a:prstGeom prst="roundRect">
            <a:avLst>
              <a:gd name="adj" fmla="val 290115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750987" y="4208859"/>
            <a:ext cx="224325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How It Helps Society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933384" y="4591288"/>
            <a:ext cx="3878461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Promotes preventive health awareness among youth.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933384" y="5218867"/>
            <a:ext cx="3878461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Builds trust in Ayurveda by using clear, data-backed methods.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933384" y="5846445"/>
            <a:ext cx="3878461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Supports India's vision for digital and holistic healthcare.</a:t>
            </a:r>
            <a:endParaRPr lang="en-US" sz="13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AADAC8A-F15A-A2D9-9EDC-61FEB03A3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2660" y="7786739"/>
            <a:ext cx="2257740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9714" y="464463"/>
            <a:ext cx="10508813" cy="50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Competitive Landscape — Where AIyuv Stands 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9714" y="1298615"/>
            <a:ext cx="13490972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AIyuv competes in the growing space of AI-driven Ayurveda and digital wellness. While other players focus on treatment or traditional products, AIyuv focuses on preventive, personalized, and accessible diagnosis.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9714" y="2002512"/>
            <a:ext cx="13490972" cy="3932039"/>
          </a:xfrm>
          <a:prstGeom prst="roundRect">
            <a:avLst>
              <a:gd name="adj" fmla="val 621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77334" y="2010132"/>
            <a:ext cx="13475732" cy="47089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77572" y="2010132"/>
            <a:ext cx="2695099" cy="470892"/>
          </a:xfrm>
          <a:prstGeom prst="roundRect">
            <a:avLst>
              <a:gd name="adj" fmla="val 5186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40331" y="2115383"/>
            <a:ext cx="2365772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Competitor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72671" y="2010132"/>
            <a:ext cx="2695099" cy="47089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39239" y="2115383"/>
            <a:ext cx="2361962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Tech Approach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67770" y="2010132"/>
            <a:ext cx="2695099" cy="47089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34338" y="2115383"/>
            <a:ext cx="2361962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Focus Area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62868" y="2010132"/>
            <a:ext cx="2695099" cy="47089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829437" y="2115383"/>
            <a:ext cx="2361962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Limitation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357967" y="2010132"/>
            <a:ext cx="2695099" cy="47089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524536" y="2115383"/>
            <a:ext cx="2365772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AIyuv's Advantage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7334" y="2481024"/>
            <a:ext cx="13475732" cy="99167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77572" y="2481024"/>
            <a:ext cx="2695099" cy="9916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0331" y="2586276"/>
            <a:ext cx="2365772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Nadi Tarangini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72671" y="2481024"/>
            <a:ext cx="2695099" cy="9916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39239" y="2586276"/>
            <a:ext cx="2361962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Hardware-based pulse analysis using sensors + AI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67770" y="2481024"/>
            <a:ext cx="2695099" cy="9916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34338" y="2586276"/>
            <a:ext cx="2361962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Detects Dosha imbalance through pulse data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62868" y="2481024"/>
            <a:ext cx="2695099" cy="9916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829437" y="2586276"/>
            <a:ext cx="2361962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Needs physical device &amp; expert; not scalable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1357967" y="2481024"/>
            <a:ext cx="2695099" cy="9916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1524536" y="2586276"/>
            <a:ext cx="2365772" cy="781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Fully digital — no device needed; integrates heart rate data from sensors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77334" y="3472696"/>
            <a:ext cx="13475732" cy="73128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77572" y="3472696"/>
            <a:ext cx="2695099" cy="73128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40331" y="3577947"/>
            <a:ext cx="2365772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AyurAI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72671" y="3472696"/>
            <a:ext cx="2695099" cy="73128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39239" y="3577947"/>
            <a:ext cx="2361962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Symptom-based AI prediction for treatments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67770" y="3472696"/>
            <a:ext cx="2695099" cy="73128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134338" y="3577947"/>
            <a:ext cx="2361962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Disease identification &amp; medicine recommendation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662868" y="3472696"/>
            <a:ext cx="2695099" cy="73128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829437" y="3577947"/>
            <a:ext cx="2361962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Focused on treatment, not prevention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1357967" y="3472696"/>
            <a:ext cx="2695099" cy="73128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1524536" y="3577947"/>
            <a:ext cx="2365772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Predicts Dosha imbalance early; focuses on preventive health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77334" y="4203978"/>
            <a:ext cx="13475732" cy="73128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77572" y="4203978"/>
            <a:ext cx="2695099" cy="73128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40331" y="4309229"/>
            <a:ext cx="2365772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Ayurythm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3272671" y="4203978"/>
            <a:ext cx="2695099" cy="73128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439239" y="4309229"/>
            <a:ext cx="2361962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Mobile sensors + quizzes for Dosha analysis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967770" y="4203978"/>
            <a:ext cx="2695099" cy="73128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134338" y="4309229"/>
            <a:ext cx="2361962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Lifestyle &amp; Dosha self-assessment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662868" y="4203978"/>
            <a:ext cx="2695099" cy="73128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829437" y="4309229"/>
            <a:ext cx="2361962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Limited biometric accuracy; relies on self-input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11357967" y="4203978"/>
            <a:ext cx="2695099" cy="73128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1524536" y="4309229"/>
            <a:ext cx="2365772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Combines AI + biometrics + lifestyle data for accuracy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77334" y="4935260"/>
            <a:ext cx="13475732" cy="9916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577572" y="4935260"/>
            <a:ext cx="2695099" cy="9916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40331" y="5040511"/>
            <a:ext cx="2365772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Other Ayurveda Platforms (Jiva, Suddhi, Dabur, Patanjali)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3272671" y="4935260"/>
            <a:ext cx="2695099" cy="9916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439239" y="5040511"/>
            <a:ext cx="2361962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Manual or e-commerce models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5967770" y="4935260"/>
            <a:ext cx="2695099" cy="9916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134338" y="5040511"/>
            <a:ext cx="2361962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Consultations &amp; herbal products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8662868" y="4935260"/>
            <a:ext cx="2695099" cy="9916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8829437" y="5040511"/>
            <a:ext cx="2361962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AI or data-driven diagnosis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11357967" y="4935260"/>
            <a:ext cx="2695099" cy="9916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11524536" y="5040511"/>
            <a:ext cx="2365772" cy="781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AI-powered, personalized, and scalable self-assessment platform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569714" y="6117669"/>
            <a:ext cx="13490972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897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AIyuv's Unique Advantage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69714" y="6748343"/>
            <a:ext cx="13490972" cy="22860"/>
          </a:xfrm>
          <a:prstGeom prst="roundRect">
            <a:avLst>
              <a:gd name="adj" fmla="val 1068268"/>
            </a:avLst>
          </a:prstGeom>
          <a:solidFill>
            <a:srgbClr val="D3CD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2168247" y="6748343"/>
            <a:ext cx="22860" cy="325517"/>
          </a:xfrm>
          <a:prstGeom prst="roundRect">
            <a:avLst>
              <a:gd name="adj" fmla="val 1068268"/>
            </a:avLst>
          </a:prstGeom>
          <a:solidFill>
            <a:srgbClr val="D3CD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2118658" y="6687324"/>
            <a:ext cx="122039" cy="122039"/>
          </a:xfrm>
          <a:prstGeom prst="roundRect">
            <a:avLst>
              <a:gd name="adj" fmla="val 374634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732473" y="7236738"/>
            <a:ext cx="2894528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🌎</a:t>
            </a:r>
            <a:r>
              <a:rPr lang="en-US" sz="12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Scalable and accessible for anyone with a smartphone.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5591889" y="6748343"/>
            <a:ext cx="22860" cy="325517"/>
          </a:xfrm>
          <a:prstGeom prst="roundRect">
            <a:avLst>
              <a:gd name="adj" fmla="val 1068268"/>
            </a:avLst>
          </a:prstGeom>
          <a:solidFill>
            <a:srgbClr val="D3CD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5542300" y="6687324"/>
            <a:ext cx="122039" cy="122039"/>
          </a:xfrm>
          <a:prstGeom prst="roundRect">
            <a:avLst>
              <a:gd name="adj" fmla="val 374634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155996" y="7236738"/>
            <a:ext cx="2894648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💡</a:t>
            </a:r>
            <a:r>
              <a:rPr lang="en-US" sz="12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Combines AI + Ayurveda + Biometrics — no hardware required.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9015532" y="6748343"/>
            <a:ext cx="22860" cy="325517"/>
          </a:xfrm>
          <a:prstGeom prst="roundRect">
            <a:avLst>
              <a:gd name="adj" fmla="val 1068268"/>
            </a:avLst>
          </a:prstGeom>
          <a:solidFill>
            <a:srgbClr val="D3CD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8965942" y="6687324"/>
            <a:ext cx="122039" cy="122039"/>
          </a:xfrm>
          <a:prstGeom prst="roundRect">
            <a:avLst>
              <a:gd name="adj" fmla="val 374634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7579638" y="7236738"/>
            <a:ext cx="2894648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🔒</a:t>
            </a:r>
            <a:r>
              <a:rPr lang="en-US" sz="12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Builds a data-driven, consistent Ayurvedic experience.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12439174" y="6748343"/>
            <a:ext cx="22860" cy="325517"/>
          </a:xfrm>
          <a:prstGeom prst="roundRect">
            <a:avLst>
              <a:gd name="adj" fmla="val 1068268"/>
            </a:avLst>
          </a:prstGeom>
          <a:solidFill>
            <a:srgbClr val="D3CD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12389584" y="6687324"/>
            <a:ext cx="122039" cy="122039"/>
          </a:xfrm>
          <a:prstGeom prst="roundRect">
            <a:avLst>
              <a:gd name="adj" fmla="val 374634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11003280" y="7236738"/>
            <a:ext cx="2894648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🌿</a:t>
            </a:r>
            <a:r>
              <a:rPr lang="en-US" sz="12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Shifts healthcare from reactive to preventive.</a:t>
            </a:r>
            <a:endParaRPr lang="en-US" sz="1250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A7D8CDB2-428B-446F-41ED-05A8B68E8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2660" y="7742251"/>
            <a:ext cx="2257740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2935" y="489466"/>
            <a:ext cx="7417832" cy="55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How Easy Is It to Replicate AIyuv?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22935" y="1116925"/>
            <a:ext cx="6182320" cy="444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Why It's Actually Hard to Replicate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2935" y="1828800"/>
            <a:ext cx="13384530" cy="1854637"/>
          </a:xfrm>
          <a:prstGeom prst="roundRect">
            <a:avLst>
              <a:gd name="adj" fmla="val 14396"/>
            </a:avLst>
          </a:prstGeom>
          <a:solidFill>
            <a:srgbClr val="F9F9F9"/>
          </a:solidFill>
          <a:ln w="22860">
            <a:solidFill>
              <a:srgbClr val="00897B"/>
            </a:solidFill>
            <a:prstDash val="solid"/>
          </a:ln>
          <a:effectLst>
            <a:outerShdw dist="16510" dir="2700000" algn="bl" rotWithShape="0">
              <a:srgbClr val="00897B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5795" y="1851660"/>
            <a:ext cx="711994" cy="1808917"/>
          </a:xfrm>
          <a:prstGeom prst="roundRect">
            <a:avLst>
              <a:gd name="adj" fmla="val 33648"/>
            </a:avLst>
          </a:prstGeom>
          <a:solidFill>
            <a:srgbClr val="00897B"/>
          </a:solidFill>
          <a:ln/>
          <a:effectLst>
            <a:outerShdw dist="16510" dir="2700000" algn="bl" rotWithShape="0">
              <a:srgbClr val="19A294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4513" y="2622590"/>
            <a:ext cx="266938" cy="2669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5787" y="2029658"/>
            <a:ext cx="3188137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🧠</a:t>
            </a:r>
            <a:r>
              <a:rPr lang="en-US" sz="175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 a. Unique Data Collection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535787" y="2414588"/>
            <a:ext cx="12270819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AIyuv's model depends on verified Ayurvedic datasets (Prakruthi, Dosha, Guna traits, biometric correlations).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35787" y="2806184"/>
            <a:ext cx="12270819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These datasets are not easily available publicly.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35787" y="3197781"/>
            <a:ext cx="12270819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You'll build this data through collaboration with AYUSH experts, universities, and real assessments — giving you a first-mover dataset advantage.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2935" y="3861435"/>
            <a:ext cx="13384530" cy="1854637"/>
          </a:xfrm>
          <a:prstGeom prst="roundRect">
            <a:avLst>
              <a:gd name="adj" fmla="val 14396"/>
            </a:avLst>
          </a:prstGeom>
          <a:solidFill>
            <a:srgbClr val="F9F9F9"/>
          </a:solidFill>
          <a:ln w="22860">
            <a:solidFill>
              <a:srgbClr val="00897B"/>
            </a:solidFill>
            <a:prstDash val="solid"/>
          </a:ln>
          <a:effectLst>
            <a:outerShdw dist="16510" dir="2700000" algn="bl" rotWithShape="0">
              <a:srgbClr val="00897B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45795" y="3884295"/>
            <a:ext cx="711994" cy="1808917"/>
          </a:xfrm>
          <a:prstGeom prst="roundRect">
            <a:avLst>
              <a:gd name="adj" fmla="val 33648"/>
            </a:avLst>
          </a:prstGeom>
          <a:solidFill>
            <a:srgbClr val="00897B"/>
          </a:solidFill>
          <a:ln/>
          <a:effectLst>
            <a:outerShdw dist="16510" dir="2700000" algn="bl" rotWithShape="0">
              <a:srgbClr val="19A294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4513" y="4655225"/>
            <a:ext cx="266938" cy="2669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35787" y="4062293"/>
            <a:ext cx="4577953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🤖</a:t>
            </a:r>
            <a:r>
              <a:rPr lang="en-US" sz="175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 b. Algorithm &amp; Knowledge Integration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1535787" y="4447223"/>
            <a:ext cx="12270819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system uniquely combines AI logic (pattern recognition, supervised learning) with Ayurvedic domain logic (dosha rules, guna mapping, symptoms).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535787" y="4838819"/>
            <a:ext cx="12270819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Translating ancient textual logic into machine-understandable format takes deep domain work — not just coding.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535787" y="5230416"/>
            <a:ext cx="12270819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hybrid logic model becomes your intellectual property (IP).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22935" y="5894070"/>
            <a:ext cx="13384530" cy="1854637"/>
          </a:xfrm>
          <a:prstGeom prst="roundRect">
            <a:avLst>
              <a:gd name="adj" fmla="val 14396"/>
            </a:avLst>
          </a:prstGeom>
          <a:solidFill>
            <a:srgbClr val="F9F9F9"/>
          </a:solidFill>
          <a:ln w="22860">
            <a:solidFill>
              <a:srgbClr val="00897B"/>
            </a:solidFill>
            <a:prstDash val="solid"/>
          </a:ln>
          <a:effectLst>
            <a:outerShdw dist="16510" dir="2700000" algn="bl" rotWithShape="0">
              <a:srgbClr val="00897B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45795" y="5916930"/>
            <a:ext cx="711994" cy="1808917"/>
          </a:xfrm>
          <a:prstGeom prst="roundRect">
            <a:avLst>
              <a:gd name="adj" fmla="val 33648"/>
            </a:avLst>
          </a:prstGeom>
          <a:solidFill>
            <a:srgbClr val="00897B"/>
          </a:solidFill>
          <a:ln/>
          <a:effectLst>
            <a:outerShdw dist="16510" dir="2700000" algn="bl" rotWithShape="0">
              <a:srgbClr val="19A294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4513" y="6687860"/>
            <a:ext cx="266938" cy="2669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35787" y="6094928"/>
            <a:ext cx="402907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🩺</a:t>
            </a:r>
            <a:r>
              <a:rPr lang="en-US" sz="175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 c. Scientific &amp; Cultural Validation</a:t>
            </a:r>
            <a:endParaRPr lang="en-US" sz="1750" dirty="0"/>
          </a:p>
        </p:txBody>
      </p:sp>
      <p:sp>
        <p:nvSpPr>
          <p:cNvPr id="22" name="Text 17"/>
          <p:cNvSpPr/>
          <p:nvPr/>
        </p:nvSpPr>
        <p:spPr>
          <a:xfrm>
            <a:off x="1535787" y="6479858"/>
            <a:ext cx="12270819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AIyuv will use expert-reviewed frameworks validated by Ayurvedic doctors.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535787" y="6871454"/>
            <a:ext cx="12270819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makes your platform trusted, while copies might lack credibility.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535787" y="7263051"/>
            <a:ext cx="12270819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Trust is critical in healthcare — and it cannot be copied easily.</a:t>
            </a:r>
            <a:endParaRPr lang="en-US" sz="14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746B2C7-54A8-37F1-6B8A-2EDC145A1D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07686" y="7805807"/>
            <a:ext cx="2122714" cy="4237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87812"/>
            <a:ext cx="11818858" cy="66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Technology &amp; Intellectual Property Strategy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8070" y="1683187"/>
            <a:ext cx="13134261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technology ensures both accuracy and defensibility, securing our position as a leader in integrated health-tech.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8070" y="2502456"/>
            <a:ext cx="4150757" cy="40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Core Technological Stack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48070" y="3116937"/>
            <a:ext cx="7671911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Engine powered by </a:t>
            </a:r>
            <a:r>
              <a:rPr lang="en-US" sz="165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Supervised Learning</a:t>
            </a: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models trained on extensive, validated Ayurvedic datasets.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48070" y="3875603"/>
            <a:ext cx="7671911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Seamless integration layer for processing </a:t>
            </a:r>
            <a:r>
              <a:rPr lang="en-US" sz="165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biometric data</a:t>
            </a: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streams (e.g., from wearables) to enhance diagnostic accuracy.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8070" y="4634270"/>
            <a:ext cx="7671911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Proprietary algorithms that translate Dosha balance assessment into quantifiable data points.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48070" y="5531882"/>
            <a:ext cx="3206353" cy="40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IP and Validation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48070" y="6146363"/>
            <a:ext cx="7671911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 </a:t>
            </a:r>
            <a:r>
              <a:rPr lang="en-US" sz="165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Patent potential</a:t>
            </a: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our unique diagnostic logic and data pipeline methodology.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48070" y="6905030"/>
            <a:ext cx="7671911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Ongoing collaboration with </a:t>
            </a:r>
            <a:r>
              <a:rPr lang="en-US" sz="165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AYUSH research institutions</a:t>
            </a:r>
            <a:r>
              <a:rPr lang="en-US" sz="16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ensures continuous validation and domain authority.</a:t>
            </a:r>
            <a:endParaRPr lang="en-US" sz="16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095" y="2505908"/>
            <a:ext cx="4940737" cy="49407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DC06BB-9B9A-25C4-A823-8C7F87CB4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1444" y="7741654"/>
            <a:ext cx="2257740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2023"/>
            <a:ext cx="104715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The Team: Interdisciplinary Strength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44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AIyuv is driven by a blend of technical expertise, academic mentorship, and a clear vision for growth.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857256" y="30797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Founder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57020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Punuru Shyam Suchit Reddy</a:t>
            </a:r>
            <a:r>
              <a:rPr lang="en-US" sz="17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</a:t>
            </a:r>
            <a:r>
              <a:rPr lang="en-US" sz="1750" i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B.Tech C.S.E)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633" y="3705344"/>
            <a:ext cx="339328" cy="339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3084076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Co-Researcher &amp; Idea Collaborator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790" y="3928824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Korrapati Jaideep</a:t>
            </a:r>
            <a:r>
              <a:rPr lang="en-US" sz="17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</a:t>
            </a:r>
            <a:r>
              <a:rPr lang="en-US" sz="1750" i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B.Tech C.S.E)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3705344"/>
            <a:ext cx="339328" cy="3393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7790" y="5350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Domain Experts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937790" y="5841325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Mentorship from people in Ayurveda and AI departments, ensuring clinical relevance and data integrity.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964912"/>
            <a:ext cx="339328" cy="33932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857256" y="5350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Future Recruitment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793790" y="5841325"/>
            <a:ext cx="38987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Expanding team to include specialized data scientists, certified Ayurvedic doctors, and UX designers.</a:t>
            </a:r>
            <a:endParaRPr lang="en-US" sz="17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964912"/>
            <a:ext cx="339328" cy="33932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2665DD6-DD55-84E7-05B4-62AFFC788B8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372660" y="7749922"/>
            <a:ext cx="2257740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696039"/>
            <a:ext cx="4899660" cy="612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Market Analysis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5919" y="1700332"/>
            <a:ext cx="13258562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Ayurvedic market demonstrates robust growth, driven by increasing consumer awareness and a global shift towards digital and preventive wellness.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919" y="2234208"/>
            <a:ext cx="13258562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chart shows market growth: • Y-axis (vertical): Years from 2014 to 2028 • X-axis (horizontal): Market value in Crores INR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567" y="2768084"/>
            <a:ext cx="11269147" cy="19489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919" y="4937403"/>
            <a:ext cx="13258562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global Ayurveda market has seen significant expansion, growing from ₹23,750 crores in 2014 to ₹3,61,220 crores in 2023. While a projection of ₹13,28,000 crores for 2028 indicates market adjustments, the overall trend reflects a substantial and sustained interest in Ayurvedic solutions.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919" y="5882759"/>
            <a:ext cx="3595211" cy="244912"/>
          </a:xfrm>
          <a:prstGeom prst="roundRect">
            <a:avLst>
              <a:gd name="adj" fmla="val 120035"/>
            </a:avLst>
          </a:prstGeom>
          <a:solidFill>
            <a:srgbClr val="EDE7E7"/>
          </a:solidFill>
          <a:ln w="7620">
            <a:solidFill>
              <a:srgbClr val="D3CDCD"/>
            </a:solidFill>
            <a:prstDash val="solid"/>
          </a:ln>
          <a:effectLst>
            <a:outerShdw dist="1778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85919" y="5882759"/>
            <a:ext cx="3415427" cy="244912"/>
          </a:xfrm>
          <a:prstGeom prst="roundRect">
            <a:avLst>
              <a:gd name="adj" fmla="val 120035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428053" y="5882759"/>
            <a:ext cx="51411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95%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85919" y="6372582"/>
            <a:ext cx="4256246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Indians know Ayurveda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187077" y="5882759"/>
            <a:ext cx="3601760" cy="244912"/>
          </a:xfrm>
          <a:prstGeom prst="roundRect">
            <a:avLst>
              <a:gd name="adj" fmla="val 120035"/>
            </a:avLst>
          </a:prstGeom>
          <a:solidFill>
            <a:srgbClr val="EDE7E7"/>
          </a:solidFill>
          <a:ln w="7620">
            <a:solidFill>
              <a:srgbClr val="D3CDCD"/>
            </a:solidFill>
            <a:prstDash val="solid"/>
          </a:ln>
          <a:effectLst>
            <a:outerShdw dist="1778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187077" y="5882759"/>
            <a:ext cx="1908929" cy="244912"/>
          </a:xfrm>
          <a:prstGeom prst="roundRect">
            <a:avLst>
              <a:gd name="adj" fmla="val 120035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935760" y="5882759"/>
            <a:ext cx="507563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53%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187077" y="6372582"/>
            <a:ext cx="4256246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Urban Indian usage of Ayurveda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688235" y="5882759"/>
            <a:ext cx="3587591" cy="244912"/>
          </a:xfrm>
          <a:prstGeom prst="roundRect">
            <a:avLst>
              <a:gd name="adj" fmla="val 120035"/>
            </a:avLst>
          </a:prstGeom>
          <a:solidFill>
            <a:srgbClr val="EDE7E7"/>
          </a:solidFill>
          <a:ln w="7620">
            <a:solidFill>
              <a:srgbClr val="D3CDCD"/>
            </a:solidFill>
            <a:prstDash val="solid"/>
          </a:ln>
          <a:effectLst>
            <a:outerShdw dist="1778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9688235" y="5882759"/>
            <a:ext cx="1650206" cy="244912"/>
          </a:xfrm>
          <a:prstGeom prst="roundRect">
            <a:avLst>
              <a:gd name="adj" fmla="val 120035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3422749" y="5882759"/>
            <a:ext cx="52173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46%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9688235" y="6372582"/>
            <a:ext cx="4256246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Rural Indian usage of Ayurveda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85919" y="6906458"/>
            <a:ext cx="13258562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widespread awareness, coupled with strong usage rates across both urban and rural populations, confirms a deep-rooted acceptance of Ayurveda in India. Furthermore, there is a rising global trend of digital health and preventive wellness solutions.</a:t>
            </a:r>
            <a:endParaRPr lang="en-US" sz="15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494D84-6814-6375-D3B9-5B07CDFBB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3879" y="7768325"/>
            <a:ext cx="2257740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7459" y="575191"/>
            <a:ext cx="11675269" cy="56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Market Analysis (with Target Customer Estimation)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27459" y="1493996"/>
            <a:ext cx="4338995" cy="4280416"/>
          </a:xfrm>
          <a:prstGeom prst="roundRect">
            <a:avLst>
              <a:gd name="adj" fmla="val 2563"/>
            </a:avLst>
          </a:prstGeom>
          <a:solidFill>
            <a:srgbClr val="F9F9F9"/>
          </a:solidFill>
          <a:ln w="22860">
            <a:solidFill>
              <a:srgbClr val="D3CDCD"/>
            </a:solidFill>
            <a:prstDash val="solid"/>
          </a:ln>
          <a:effectLst>
            <a:outerShdw dist="1651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04599" y="1493996"/>
            <a:ext cx="91440" cy="4280416"/>
          </a:xfrm>
          <a:prstGeom prst="roundRect">
            <a:avLst>
              <a:gd name="adj" fmla="val 294131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98088" y="1696045"/>
            <a:ext cx="3866317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🇮🇳</a:t>
            </a:r>
            <a:r>
              <a:rPr lang="en-US" sz="175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 1. Ayurveda Market Overview (India)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98088" y="2363629"/>
            <a:ext cx="3866317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Indian Ayurveda market size (2023): ≈ ₹3,61,220 crores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8088" y="3000018"/>
            <a:ext cx="3866317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Projected CAGR: ~15% annually (expected to reach ₹5,81,000–6,22,500 crores by 2028).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8088" y="3636407"/>
            <a:ext cx="3866317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Awareness: Around 95% of Indians know about Ayurveda.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8088" y="4272796"/>
            <a:ext cx="3866317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Active users: ~45–50% of Indians use some Ayurvedic product or service.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8088" y="4953953"/>
            <a:ext cx="3866317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means you already have a massive potential base of users who are familiar with Ayurveda.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45643" y="1493996"/>
            <a:ext cx="4338995" cy="4280416"/>
          </a:xfrm>
          <a:prstGeom prst="roundRect">
            <a:avLst>
              <a:gd name="adj" fmla="val 2563"/>
            </a:avLst>
          </a:prstGeom>
          <a:solidFill>
            <a:srgbClr val="F9F9F9"/>
          </a:solidFill>
          <a:ln w="22860">
            <a:solidFill>
              <a:srgbClr val="D3CDCD"/>
            </a:solidFill>
            <a:prstDash val="solid"/>
          </a:ln>
          <a:effectLst>
            <a:outerShdw dist="1651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122783" y="1493996"/>
            <a:ext cx="91440" cy="4280416"/>
          </a:xfrm>
          <a:prstGeom prst="roundRect">
            <a:avLst>
              <a:gd name="adj" fmla="val 294131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16272" y="1696045"/>
            <a:ext cx="3866317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🌿</a:t>
            </a:r>
            <a:r>
              <a:rPr lang="en-US" sz="175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 2. Define Your Ideal Target Audience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416272" y="2363629"/>
            <a:ext cx="3866317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AIyuv focuses on: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16272" y="2757964"/>
            <a:ext cx="3866317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Digitally literate, health-conscious individuals (urban + semi-urban).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16272" y="3394353"/>
            <a:ext cx="3866317" cy="86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 group 20–45 years, who use smartphones and prefer personalized digital solutions.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16272" y="4317563"/>
            <a:ext cx="3866317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Users interested in preventive health, yoga, diet, and fitness tracking.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16272" y="4998720"/>
            <a:ext cx="3866317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According to national data, this segment makes up roughly 25–30% of the Indian population.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63827" y="1493996"/>
            <a:ext cx="4338995" cy="4280416"/>
          </a:xfrm>
          <a:prstGeom prst="roundRect">
            <a:avLst>
              <a:gd name="adj" fmla="val 2563"/>
            </a:avLst>
          </a:prstGeom>
          <a:solidFill>
            <a:srgbClr val="F9F9F9"/>
          </a:solidFill>
          <a:ln w="22860">
            <a:solidFill>
              <a:srgbClr val="D3CDCD"/>
            </a:solidFill>
            <a:prstDash val="solid"/>
          </a:ln>
          <a:effectLst>
            <a:outerShdw dist="16510" dir="2700000" algn="bl" rotWithShape="0">
              <a:srgbClr val="D3CDCD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640967" y="1493996"/>
            <a:ext cx="91440" cy="4280416"/>
          </a:xfrm>
          <a:prstGeom prst="roundRect">
            <a:avLst>
              <a:gd name="adj" fmla="val 294131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934456" y="1696045"/>
            <a:ext cx="3866317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📱</a:t>
            </a:r>
            <a:r>
              <a:rPr lang="en-US" sz="1750" dirty="0">
                <a:solidFill>
                  <a:srgbClr val="263238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 3. Narrowing to Digital Health Adopters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9934456" y="2363629"/>
            <a:ext cx="3866317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India has over 750 million smartphone users.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34456" y="2713196"/>
            <a:ext cx="3866317" cy="86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About 15–20% of them use digital health or wellness apps (like Fittr, HealthifyMe, Cure.fit, etc.).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934456" y="3681174"/>
            <a:ext cx="3866317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These are the people most likely to try an AI-powered Ayurveda tool.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34456" y="4362331"/>
            <a:ext cx="3866317" cy="86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So, your direct reachable market = ≈ 15% of digital health app users in India→ </a:t>
            </a:r>
            <a:r>
              <a:rPr lang="en-US" sz="140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roughly 100–120 million potential users.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7459" y="5976104"/>
            <a:ext cx="13375481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7459" y="6531769"/>
            <a:ext cx="6703814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🎯</a:t>
            </a:r>
            <a:r>
              <a:rPr lang="en-US" sz="175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 4. Target Market Share (Realistic for AIyuv's Early Stage)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627459" y="7080647"/>
            <a:ext cx="13375481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your first 3–5 years, realistically aim to capture 1–2% of that reachable segment. That equals </a:t>
            </a:r>
            <a:r>
              <a:rPr lang="en-US" sz="1400" b="1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1–2 million users in India initially</a:t>
            </a:r>
            <a:r>
              <a:rPr lang="en-US" sz="140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a very strong early-stage goal for an Ayurveda-based AI platform.</a:t>
            </a:r>
            <a:endParaRPr lang="en-US" sz="14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33A7E24-CE92-342A-AFEB-C01519521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2728" y="7737369"/>
            <a:ext cx="2257740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9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93790" y="31537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897B"/>
                </a:solidFill>
                <a:latin typeface="Poppins Semi Bold" pitchFamily="34" charset="0"/>
                <a:ea typeface="Poppins Semi Bold" pitchFamily="34" charset="-122"/>
                <a:cs typeface="Poppins Semi Bold" pitchFamily="34" charset="-120"/>
              </a:rPr>
              <a:t>Thank You / Vision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1133951" y="4457819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6323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"AIyuv — Where technology and tradition heal together."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202668"/>
            <a:ext cx="30480" cy="87320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1959</Words>
  <Application>Microsoft Office PowerPoint</Application>
  <PresentationFormat>Custom</PresentationFormat>
  <Paragraphs>191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PUNURU SHYAM SUCHIT REDDY</cp:lastModifiedBy>
  <cp:revision>3</cp:revision>
  <dcterms:created xsi:type="dcterms:W3CDTF">2025-11-05T08:39:18Z</dcterms:created>
  <dcterms:modified xsi:type="dcterms:W3CDTF">2025-11-05T08:47:41Z</dcterms:modified>
</cp:coreProperties>
</file>